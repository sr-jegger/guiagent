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7" r:id="rId5"/>
    <p:sldId id="27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4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GuiAgent 技能学习机制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从 VLM 操作到可复用规则的自动化学习系统</a:t>
            </a:r>
            <a:br/>
            <a:r>
              <a:t>2026-04-02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一、项目背景与目标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二、整体架构设计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三、Phase</a:t>
            </a:r>
            <a:r>
              <a:rPr dirty="0"/>
              <a:t> 1: </a:t>
            </a:r>
            <a:r>
              <a:rPr dirty="0" err="1"/>
              <a:t>操作记录器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四、Phase</a:t>
            </a:r>
            <a:r>
              <a:rPr dirty="0"/>
              <a:t> 2: </a:t>
            </a:r>
            <a:r>
              <a:rPr dirty="0" err="1"/>
              <a:t>聚类引擎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五、Phase</a:t>
            </a:r>
            <a:r>
              <a:rPr dirty="0"/>
              <a:t> 3: </a:t>
            </a:r>
            <a:r>
              <a:rPr dirty="0" err="1"/>
              <a:t>候选池管理与审核</a:t>
            </a:r>
            <a:r>
              <a:rPr dirty="0"/>
              <a:t> API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六、Phase</a:t>
            </a:r>
            <a:r>
              <a:rPr dirty="0"/>
              <a:t> 4: </a:t>
            </a:r>
            <a:r>
              <a:rPr dirty="0" err="1"/>
              <a:t>技能生成器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七、Phase</a:t>
            </a:r>
            <a:r>
              <a:rPr dirty="0"/>
              <a:t> 5: </a:t>
            </a:r>
            <a:r>
              <a:rPr dirty="0" err="1"/>
              <a:t>技能库集成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八、文件结构与代码组织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九、关键设计决策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十、使用流程演示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十一、当前限制与改进方向</a:t>
            </a:r>
            <a:endParaRPr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B1D9779-216D-A1AE-EC8D-8C7260804CEA}"/>
              </a:ext>
            </a:extLst>
          </p:cNvPr>
          <p:cNvSpPr txBox="1"/>
          <p:nvPr/>
        </p:nvSpPr>
        <p:spPr>
          <a:xfrm>
            <a:off x="5105400" y="681980"/>
            <a:ext cx="696350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日志示例：</a:t>
            </a:r>
          </a:p>
          <a:p>
            <a:r>
              <a:rPr lang="zh-CN" altLang="en-US" dirty="0"/>
              <a:t>  {</a:t>
            </a:r>
          </a:p>
          <a:p>
            <a:r>
              <a:rPr lang="zh-CN" altLang="en-US" dirty="0"/>
              <a:t>      "log_id": "a3bb328d-2d9a-46b5-aa6e-1d316ce0f977",</a:t>
            </a:r>
          </a:p>
          <a:p>
            <a:r>
              <a:rPr lang="zh-CN" altLang="en-US" dirty="0"/>
              <a:t>      "timestamp": "2026-04-02T10:15:13.780745",</a:t>
            </a:r>
          </a:p>
          <a:p>
            <a:r>
              <a:rPr lang="zh-CN" altLang="en-US" dirty="0"/>
              <a:t>      "instruction": "双击打开Edge Dev浏览器",</a:t>
            </a:r>
          </a:p>
          <a:p>
            <a:r>
              <a:rPr lang="zh-CN" altLang="en-US" dirty="0"/>
              <a:t>      "instruction_hash": "522e5b4d",</a:t>
            </a:r>
          </a:p>
          <a:p>
            <a:r>
              <a:rPr lang="zh-CN" altLang="en-US" dirty="0"/>
              <a:t>      "task_name": "自动化任务-任务指派",</a:t>
            </a:r>
          </a:p>
          <a:p>
            <a:r>
              <a:rPr lang="zh-CN" altLang="en-US" dirty="0"/>
              <a:t>      "app_context": {</a:t>
            </a:r>
          </a:p>
          <a:p>
            <a:r>
              <a:rPr lang="zh-CN" altLang="en-US" dirty="0"/>
              <a:t>          "active_window": "Program Manager",</a:t>
            </a:r>
          </a:p>
          <a:p>
            <a:r>
              <a:rPr lang="zh-CN" altLang="en-US" dirty="0"/>
              <a:t>          "window_title": "Program Manager"</a:t>
            </a:r>
          </a:p>
          <a:p>
            <a:r>
              <a:rPr lang="zh-CN" altLang="en-US" dirty="0"/>
              <a:t>      },</a:t>
            </a:r>
          </a:p>
          <a:p>
            <a:r>
              <a:rPr lang="zh-CN" altLang="en-US" dirty="0"/>
              <a:t>      "action_structure": ["double_click"],</a:t>
            </a:r>
          </a:p>
          <a:p>
            <a:r>
              <a:rPr lang="zh-CN" altLang="en-US" dirty="0"/>
              <a:t>      "actions": [{"action": "double_click", "coordinate": [230, 751]}],</a:t>
            </a:r>
          </a:p>
          <a:p>
            <a:r>
              <a:rPr lang="zh-CN" altLang="en-US" dirty="0"/>
              <a:t>      "success": true,</a:t>
            </a:r>
          </a:p>
          <a:p>
            <a:r>
              <a:rPr lang="zh-CN" altLang="en-US" dirty="0"/>
              <a:t>      "source": "vlm",</a:t>
            </a:r>
          </a:p>
          <a:p>
            <a:r>
              <a:rPr lang="zh-CN" altLang="en-US" dirty="0"/>
              <a:t>      "step_id": 1</a:t>
            </a:r>
          </a:p>
          <a:p>
            <a:r>
              <a:rPr lang="zh-CN" altLang="en-US" dirty="0"/>
              <a:t>  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一、项目背景与目标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GuiAgent 是基于 VLM（视觉语言模型）的 GUI 自动化项目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使用 LangGraph 构建状态图执行流程，实现智能化的界面操作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已实现的核心功能包括：VLM 视觉推理、多步骤任务分解、Fast Path 规则匹配等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【核心问题】每次 VLM 操作都调用模型，成本高、速度慢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【解决方案】从成功的 VLM 操作中学习，生成可复用的规则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【技能学习的价值】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减少 VLM 调用次数，降低运营成本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规则执行比 VLM 推理快 10-100 倍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系统越用越智能，持续学习积累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4A73FE2-D79B-1D0F-06F9-07166CBAB4A2}"/>
              </a:ext>
            </a:extLst>
          </p:cNvPr>
          <p:cNvSpPr txBox="1"/>
          <p:nvPr/>
        </p:nvSpPr>
        <p:spPr>
          <a:xfrm>
            <a:off x="1172307" y="877657"/>
            <a:ext cx="2831123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VLM</a:t>
            </a:r>
            <a:r>
              <a:rPr lang="zh-CN" altLang="en-US" dirty="0"/>
              <a:t>执行操作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E50F6E-DDCF-5C78-5877-B671987E0E65}"/>
              </a:ext>
            </a:extLst>
          </p:cNvPr>
          <p:cNvSpPr txBox="1"/>
          <p:nvPr/>
        </p:nvSpPr>
        <p:spPr>
          <a:xfrm>
            <a:off x="1172307" y="1694860"/>
            <a:ext cx="2831123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OperationLogger.log()</a:t>
            </a:r>
          </a:p>
          <a:p>
            <a:pPr algn="ctr"/>
            <a:r>
              <a:rPr lang="en-US" altLang="zh-CN" dirty="0" err="1"/>
              <a:t>Operations_log.jsonl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8E2845-178E-C937-7144-E34FD894695C}"/>
              </a:ext>
            </a:extLst>
          </p:cNvPr>
          <p:cNvSpPr txBox="1"/>
          <p:nvPr/>
        </p:nvSpPr>
        <p:spPr>
          <a:xfrm>
            <a:off x="322384" y="2773515"/>
            <a:ext cx="4387361" cy="86177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ClusterEngine</a:t>
            </a:r>
            <a:r>
              <a:rPr lang="en-US" altLang="zh-CN" dirty="0"/>
              <a:t>. 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Step 1: </a:t>
            </a:r>
            <a:r>
              <a:rPr lang="zh-CN" altLang="en-US" sz="1600" dirty="0"/>
              <a:t>新操作记录匹配已有聚类</a:t>
            </a:r>
            <a:r>
              <a:rPr lang="en-US" altLang="zh-CN" sz="1600" dirty="0"/>
              <a:t>(</a:t>
            </a:r>
            <a:r>
              <a:rPr lang="zh-CN" altLang="en-US" sz="1600" dirty="0"/>
              <a:t>增量</a:t>
            </a:r>
            <a:r>
              <a:rPr lang="en-US" altLang="zh-CN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Step 2: </a:t>
            </a:r>
            <a:r>
              <a:rPr lang="zh-CN" altLang="en-US" sz="1600" dirty="0"/>
              <a:t>未聚类记录判断是否满足创建新聚类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5702BA9-B1E6-D0CD-02DE-28468B67B67F}"/>
              </a:ext>
            </a:extLst>
          </p:cNvPr>
          <p:cNvSpPr txBox="1"/>
          <p:nvPr/>
        </p:nvSpPr>
        <p:spPr>
          <a:xfrm>
            <a:off x="583223" y="4146579"/>
            <a:ext cx="4015154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 </a:t>
            </a:r>
            <a:r>
              <a:rPr lang="zh-CN" altLang="en-US" dirty="0"/>
              <a:t>对已聚类的操作进行人工审核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7DF06D-DD6D-2BF9-631C-175685CD33DF}"/>
              </a:ext>
            </a:extLst>
          </p:cNvPr>
          <p:cNvSpPr txBox="1"/>
          <p:nvPr/>
        </p:nvSpPr>
        <p:spPr>
          <a:xfrm>
            <a:off x="580291" y="4937078"/>
            <a:ext cx="4015154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  </a:t>
            </a:r>
            <a:r>
              <a:rPr lang="en-US" altLang="zh-CN" dirty="0">
                <a:solidFill>
                  <a:srgbClr val="FF0000"/>
                </a:solidFill>
              </a:rPr>
              <a:t>rules</a:t>
            </a:r>
            <a:r>
              <a:rPr lang="en-US" altLang="zh-CN" dirty="0"/>
              <a:t>/</a:t>
            </a:r>
            <a:r>
              <a:rPr lang="en-US" altLang="zh-CN" dirty="0" err="1"/>
              <a:t>learned_skills.json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5E2660-85FE-BAB8-9F5D-98CA6D5DF932}"/>
              </a:ext>
            </a:extLst>
          </p:cNvPr>
          <p:cNvSpPr txBox="1"/>
          <p:nvPr/>
        </p:nvSpPr>
        <p:spPr>
          <a:xfrm>
            <a:off x="4114800" y="8776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←</a:t>
            </a:r>
            <a:r>
              <a:rPr lang="zh-CN" altLang="en-US" dirty="0"/>
              <a:t> </a:t>
            </a:r>
            <a:r>
              <a:rPr lang="zh-CN" altLang="en-US" b="1" dirty="0"/>
              <a:t>用户运行任务，VLM推理执行动作</a:t>
            </a: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5E65B23E-F07B-B896-732B-49190007F0C4}"/>
              </a:ext>
            </a:extLst>
          </p:cNvPr>
          <p:cNvSpPr/>
          <p:nvPr/>
        </p:nvSpPr>
        <p:spPr>
          <a:xfrm>
            <a:off x="2464776" y="1348154"/>
            <a:ext cx="246184" cy="28721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7E527C8C-5E3D-DF77-7063-14E3AB7B2523}"/>
              </a:ext>
            </a:extLst>
          </p:cNvPr>
          <p:cNvSpPr/>
          <p:nvPr/>
        </p:nvSpPr>
        <p:spPr>
          <a:xfrm>
            <a:off x="2464776" y="2445324"/>
            <a:ext cx="246184" cy="28721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1660CCA2-8096-17E0-E392-7576D867C4CE}"/>
              </a:ext>
            </a:extLst>
          </p:cNvPr>
          <p:cNvSpPr/>
          <p:nvPr/>
        </p:nvSpPr>
        <p:spPr>
          <a:xfrm>
            <a:off x="2464776" y="3767387"/>
            <a:ext cx="246184" cy="28721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EBDDDA7B-ED9E-F094-C25A-79D381B09961}"/>
              </a:ext>
            </a:extLst>
          </p:cNvPr>
          <p:cNvSpPr/>
          <p:nvPr/>
        </p:nvSpPr>
        <p:spPr>
          <a:xfrm>
            <a:off x="2464776" y="4578548"/>
            <a:ext cx="246184" cy="28721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0DAA1BB-CE0E-1504-B5E8-82C9D7D9256D}"/>
              </a:ext>
            </a:extLst>
          </p:cNvPr>
          <p:cNvSpPr txBox="1"/>
          <p:nvPr/>
        </p:nvSpPr>
        <p:spPr>
          <a:xfrm>
            <a:off x="556846" y="5675632"/>
            <a:ext cx="4015154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FastPath</a:t>
            </a:r>
            <a:r>
              <a:rPr lang="zh-CN" altLang="en-US" dirty="0"/>
              <a:t>节点应用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72A4243A-74FC-EAAF-F049-D13565AEB675}"/>
              </a:ext>
            </a:extLst>
          </p:cNvPr>
          <p:cNvSpPr/>
          <p:nvPr/>
        </p:nvSpPr>
        <p:spPr>
          <a:xfrm>
            <a:off x="2464776" y="5354938"/>
            <a:ext cx="246184" cy="28721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BB63C8-40CA-BEE0-A9D1-DC5D333DDF0A}"/>
              </a:ext>
            </a:extLst>
          </p:cNvPr>
          <p:cNvSpPr txBox="1"/>
          <p:nvPr/>
        </p:nvSpPr>
        <p:spPr>
          <a:xfrm>
            <a:off x="4161692" y="1731990"/>
            <a:ext cx="71921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← </a:t>
            </a:r>
            <a:r>
              <a:rPr lang="zh-CN" altLang="en-US" b="1" dirty="0"/>
              <a:t>自动记录操作到 JSONL </a:t>
            </a:r>
            <a:r>
              <a:rPr lang="zh-CN" altLang="en-US" dirty="0"/>
              <a:t>（只记录经</a:t>
            </a:r>
            <a:r>
              <a:rPr lang="en-US" altLang="zh-CN" dirty="0"/>
              <a:t>VLM</a:t>
            </a:r>
            <a:r>
              <a:rPr lang="zh-CN" altLang="en-US" dirty="0"/>
              <a:t>的操作，</a:t>
            </a:r>
            <a:r>
              <a:rPr lang="en-US" altLang="zh-CN" dirty="0" err="1"/>
              <a:t>FastPath</a:t>
            </a:r>
            <a:r>
              <a:rPr lang="zh-CN" altLang="en-US" dirty="0"/>
              <a:t>节点命中的操作不记录（已经是规则））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07E1FAE-E8A9-9B88-83AA-810B062C6B7D}"/>
              </a:ext>
            </a:extLst>
          </p:cNvPr>
          <p:cNvSpPr txBox="1"/>
          <p:nvPr/>
        </p:nvSpPr>
        <p:spPr>
          <a:xfrm>
            <a:off x="4709746" y="297470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←</a:t>
            </a:r>
            <a:r>
              <a:rPr lang="zh-CN" altLang="en-US" dirty="0"/>
              <a:t> </a:t>
            </a:r>
            <a:r>
              <a:rPr lang="zh-CN" altLang="en-US" b="1" dirty="0"/>
              <a:t>手动触发</a:t>
            </a:r>
            <a:r>
              <a:rPr lang="zh-CN" altLang="en-US" b="1" dirty="0">
                <a:solidFill>
                  <a:srgbClr val="FF0000"/>
                </a:solidFill>
              </a:rPr>
              <a:t>聚类</a:t>
            </a:r>
            <a:r>
              <a:rPr lang="zh-CN" altLang="en-US" b="1" dirty="0"/>
              <a:t>  或  定时</a:t>
            </a:r>
            <a:r>
              <a:rPr lang="en-US" altLang="zh-CN" b="1" dirty="0"/>
              <a:t>/</a:t>
            </a:r>
            <a:r>
              <a:rPr lang="zh-CN" altLang="en-US" b="1" dirty="0"/>
              <a:t>定量自动触发聚类</a:t>
            </a:r>
            <a:r>
              <a:rPr lang="en-US" altLang="zh-CN" b="1" dirty="0"/>
              <a:t>:</a:t>
            </a:r>
          </a:p>
          <a:p>
            <a:r>
              <a:rPr lang="zh-CN" altLang="en-US" b="1" dirty="0"/>
              <a:t>      识别日志中重复出现的同类操作，生成候选技能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EFC63AD-9652-5F09-7635-7386E669714E}"/>
              </a:ext>
            </a:extLst>
          </p:cNvPr>
          <p:cNvSpPr txBox="1"/>
          <p:nvPr/>
        </p:nvSpPr>
        <p:spPr>
          <a:xfrm>
            <a:off x="4777154" y="49370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←</a:t>
            </a:r>
            <a:r>
              <a:rPr lang="zh-CN" altLang="en-US" dirty="0"/>
              <a:t> </a:t>
            </a:r>
            <a:r>
              <a:rPr lang="zh-CN" altLang="en-US" b="1" dirty="0"/>
              <a:t>生成</a:t>
            </a:r>
            <a:r>
              <a:rPr lang="zh-CN" altLang="en-US" b="1" dirty="0">
                <a:solidFill>
                  <a:srgbClr val="FF0000"/>
                </a:solidFill>
              </a:rPr>
              <a:t>技能规则</a:t>
            </a:r>
            <a:r>
              <a:rPr lang="zh-CN" altLang="en-US" b="1" dirty="0"/>
              <a:t>，形成技能库，供</a:t>
            </a:r>
            <a:r>
              <a:rPr lang="en-US" altLang="zh-CN" b="1" dirty="0" err="1"/>
              <a:t>FastPath</a:t>
            </a:r>
            <a:r>
              <a:rPr lang="en-US" altLang="zh-CN" b="1" dirty="0"/>
              <a:t> </a:t>
            </a:r>
            <a:r>
              <a:rPr lang="zh-CN" altLang="en-US" b="1" dirty="0"/>
              <a:t>使用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75B2792-E524-D4E1-4617-C1C9AFEF5E4E}"/>
              </a:ext>
            </a:extLst>
          </p:cNvPr>
          <p:cNvSpPr txBox="1"/>
          <p:nvPr/>
        </p:nvSpPr>
        <p:spPr>
          <a:xfrm>
            <a:off x="4777154" y="56626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←</a:t>
            </a:r>
            <a:r>
              <a:rPr lang="zh-CN" altLang="en-US" dirty="0"/>
              <a:t> 新任务直接命中规则，无需 VLM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B24967-C575-F16E-38C2-DD45ACFFE159}"/>
              </a:ext>
            </a:extLst>
          </p:cNvPr>
          <p:cNvSpPr txBox="1"/>
          <p:nvPr/>
        </p:nvSpPr>
        <p:spPr>
          <a:xfrm>
            <a:off x="4777154" y="41103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←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审核是否能用大模型替代？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BE574DE-E88E-E7CA-062C-6DC7FD08ABD5}"/>
              </a:ext>
            </a:extLst>
          </p:cNvPr>
          <p:cNvSpPr txBox="1"/>
          <p:nvPr/>
        </p:nvSpPr>
        <p:spPr>
          <a:xfrm>
            <a:off x="322384" y="1433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学习机制整体架构设计</a:t>
            </a:r>
          </a:p>
        </p:txBody>
      </p:sp>
    </p:spTree>
    <p:extLst>
      <p:ext uri="{BB962C8B-B14F-4D97-AF65-F5344CB8AC3E}">
        <p14:creationId xmlns:p14="http://schemas.microsoft.com/office/powerpoint/2010/main" val="1682474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C640BDE-5234-608D-C0DF-F59FD66FDC6E}"/>
              </a:ext>
            </a:extLst>
          </p:cNvPr>
          <p:cNvSpPr txBox="1"/>
          <p:nvPr/>
        </p:nvSpPr>
        <p:spPr>
          <a:xfrm>
            <a:off x="175846" y="860768"/>
            <a:ext cx="6963508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 </a:t>
            </a:r>
            <a:r>
              <a:rPr lang="zh-CN" altLang="en-US" sz="1600" b="1" dirty="0">
                <a:solidFill>
                  <a:srgbClr val="FF0000"/>
                </a:solidFill>
              </a:rPr>
              <a:t>操作记录日志示例：</a:t>
            </a:r>
          </a:p>
          <a:p>
            <a:r>
              <a:rPr lang="zh-CN" altLang="en-US" sz="1600" dirty="0"/>
              <a:t>  {</a:t>
            </a:r>
          </a:p>
          <a:p>
            <a:r>
              <a:rPr lang="zh-CN" altLang="en-US" sz="1600" dirty="0"/>
              <a:t>      </a:t>
            </a:r>
            <a:r>
              <a:rPr lang="zh-CN" altLang="en-US" sz="1600" dirty="0">
                <a:solidFill>
                  <a:srgbClr val="FF0000"/>
                </a:solidFill>
              </a:rPr>
              <a:t>"log_id"</a:t>
            </a:r>
            <a:r>
              <a:rPr lang="zh-CN" altLang="en-US" sz="1600" dirty="0"/>
              <a:t>: "a3bb328d-2d9a-46b5-aa6e-1d316ce0f977",</a:t>
            </a:r>
          </a:p>
          <a:p>
            <a:r>
              <a:rPr lang="zh-CN" altLang="en-US" sz="1600" dirty="0"/>
              <a:t>      "timestamp": "2026-04-02T10:15:13.780745",</a:t>
            </a:r>
          </a:p>
          <a:p>
            <a:r>
              <a:rPr lang="zh-CN" altLang="en-US" sz="1600" dirty="0"/>
              <a:t>      </a:t>
            </a:r>
            <a:r>
              <a:rPr lang="zh-CN" altLang="en-US" sz="1600" dirty="0">
                <a:solidFill>
                  <a:srgbClr val="FF0000"/>
                </a:solidFill>
              </a:rPr>
              <a:t>"instruction"</a:t>
            </a:r>
            <a:r>
              <a:rPr lang="zh-CN" altLang="en-US" sz="1600" dirty="0"/>
              <a:t>: "双击打开Edge Dev浏览器",</a:t>
            </a:r>
          </a:p>
          <a:p>
            <a:r>
              <a:rPr lang="zh-CN" altLang="en-US" sz="1600" dirty="0"/>
              <a:t>      "instruction_hash": "522e5b4d",</a:t>
            </a:r>
          </a:p>
          <a:p>
            <a:r>
              <a:rPr lang="zh-CN" altLang="en-US" sz="1600" dirty="0"/>
              <a:t>      </a:t>
            </a:r>
            <a:r>
              <a:rPr lang="zh-CN" altLang="en-US" sz="1600" dirty="0">
                <a:solidFill>
                  <a:srgbClr val="FF0000"/>
                </a:solidFill>
              </a:rPr>
              <a:t>"task_name"</a:t>
            </a:r>
            <a:r>
              <a:rPr lang="zh-CN" altLang="en-US" sz="1600" dirty="0"/>
              <a:t>: "自动化任务-任务指派",</a:t>
            </a:r>
          </a:p>
          <a:p>
            <a:r>
              <a:rPr lang="zh-CN" altLang="en-US" sz="1600" dirty="0"/>
              <a:t>      "app_context": {</a:t>
            </a:r>
          </a:p>
          <a:p>
            <a:r>
              <a:rPr lang="zh-CN" altLang="en-US" sz="1600" dirty="0"/>
              <a:t>          "active_window": "Program Manager",</a:t>
            </a:r>
          </a:p>
          <a:p>
            <a:r>
              <a:rPr lang="zh-CN" altLang="en-US" sz="1600" dirty="0"/>
              <a:t>          "window_title": "Program Manager"</a:t>
            </a:r>
          </a:p>
          <a:p>
            <a:r>
              <a:rPr lang="zh-CN" altLang="en-US" sz="1600" dirty="0"/>
              <a:t>      },</a:t>
            </a:r>
          </a:p>
          <a:p>
            <a:r>
              <a:rPr lang="zh-CN" altLang="en-US" sz="1600" dirty="0"/>
              <a:t>      </a:t>
            </a:r>
            <a:r>
              <a:rPr lang="zh-CN" altLang="en-US" sz="1600" dirty="0">
                <a:solidFill>
                  <a:srgbClr val="FF0000"/>
                </a:solidFill>
              </a:rPr>
              <a:t>"action_structure"</a:t>
            </a:r>
            <a:r>
              <a:rPr lang="zh-CN" altLang="en-US" sz="1600" dirty="0"/>
              <a:t>: ["double_click"],</a:t>
            </a:r>
          </a:p>
          <a:p>
            <a:r>
              <a:rPr lang="zh-CN" altLang="en-US" sz="1600" dirty="0"/>
              <a:t>      </a:t>
            </a:r>
            <a:r>
              <a:rPr lang="zh-CN" altLang="en-US" sz="1600" dirty="0">
                <a:solidFill>
                  <a:srgbClr val="FF0000"/>
                </a:solidFill>
              </a:rPr>
              <a:t>"actions"</a:t>
            </a:r>
            <a:r>
              <a:rPr lang="zh-CN" altLang="en-US" sz="1600" dirty="0"/>
              <a:t>: [{"action": "double_click", "coordinate": [230, 751]}],</a:t>
            </a:r>
          </a:p>
          <a:p>
            <a:r>
              <a:rPr lang="zh-CN" altLang="en-US" sz="1600" dirty="0"/>
              <a:t>      "success": true,</a:t>
            </a:r>
          </a:p>
          <a:p>
            <a:r>
              <a:rPr lang="zh-CN" altLang="en-US" sz="1600" dirty="0"/>
              <a:t>      </a:t>
            </a:r>
            <a:r>
              <a:rPr lang="zh-CN" altLang="en-US" sz="1600" dirty="0">
                <a:solidFill>
                  <a:srgbClr val="FF0000"/>
                </a:solidFill>
              </a:rPr>
              <a:t>“source”: “vlm”,  </a:t>
            </a:r>
            <a:r>
              <a:rPr lang="en-US" altLang="zh-CN" sz="1600" dirty="0"/>
              <a:t>##</a:t>
            </a:r>
            <a:r>
              <a:rPr lang="zh-CN" altLang="en-US" sz="1600" dirty="0"/>
              <a:t>记录来源于</a:t>
            </a:r>
            <a:r>
              <a:rPr lang="en-US" altLang="zh-CN" sz="1600" dirty="0" err="1"/>
              <a:t>vlm</a:t>
            </a:r>
            <a:r>
              <a:rPr lang="zh-CN" altLang="en-US" sz="1600" dirty="0"/>
              <a:t>推理的操作</a:t>
            </a:r>
          </a:p>
          <a:p>
            <a:r>
              <a:rPr lang="zh-CN" altLang="en-US" sz="1600" dirty="0"/>
              <a:t>      "step_id": 1</a:t>
            </a:r>
          </a:p>
          <a:p>
            <a:r>
              <a:rPr lang="zh-CN" altLang="en-US" sz="1600" dirty="0"/>
              <a:t>  }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0817C2A0-2DD0-7894-5EA3-C53B73383287}"/>
              </a:ext>
            </a:extLst>
          </p:cNvPr>
          <p:cNvCxnSpPr>
            <a:cxnSpLocks/>
          </p:cNvCxnSpPr>
          <p:nvPr/>
        </p:nvCxnSpPr>
        <p:spPr>
          <a:xfrm>
            <a:off x="4278923" y="2022234"/>
            <a:ext cx="2327031" cy="2872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5191E06-81E6-9B7B-7780-B7E0F4151B7D}"/>
              </a:ext>
            </a:extLst>
          </p:cNvPr>
          <p:cNvCxnSpPr>
            <a:cxnSpLocks/>
          </p:cNvCxnSpPr>
          <p:nvPr/>
        </p:nvCxnSpPr>
        <p:spPr>
          <a:xfrm flipV="1">
            <a:off x="5861538" y="3206262"/>
            <a:ext cx="791308" cy="7678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986AB32-5E08-5E93-7FDC-91D524F5A35F}"/>
              </a:ext>
            </a:extLst>
          </p:cNvPr>
          <p:cNvCxnSpPr>
            <a:cxnSpLocks/>
          </p:cNvCxnSpPr>
          <p:nvPr/>
        </p:nvCxnSpPr>
        <p:spPr>
          <a:xfrm>
            <a:off x="3892062" y="2795957"/>
            <a:ext cx="265527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890CB7A3-93C2-524A-BCCA-EDCBFC3734D4}"/>
              </a:ext>
            </a:extLst>
          </p:cNvPr>
          <p:cNvSpPr/>
          <p:nvPr/>
        </p:nvSpPr>
        <p:spPr>
          <a:xfrm>
            <a:off x="492369" y="1905003"/>
            <a:ext cx="3598985" cy="263759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F27E90-8497-9E3F-D993-5CEBCF2B8C67}"/>
              </a:ext>
            </a:extLst>
          </p:cNvPr>
          <p:cNvSpPr/>
          <p:nvPr/>
        </p:nvSpPr>
        <p:spPr>
          <a:xfrm>
            <a:off x="492368" y="3842246"/>
            <a:ext cx="5251940" cy="263759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4B9763-0D80-3ED8-6AF0-FD5DE7119873}"/>
              </a:ext>
            </a:extLst>
          </p:cNvPr>
          <p:cNvSpPr/>
          <p:nvPr/>
        </p:nvSpPr>
        <p:spPr>
          <a:xfrm>
            <a:off x="492369" y="2664077"/>
            <a:ext cx="3540370" cy="973016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EC2AB59-773B-9639-FB28-2F238437154D}"/>
              </a:ext>
            </a:extLst>
          </p:cNvPr>
          <p:cNvSpPr txBox="1"/>
          <p:nvPr/>
        </p:nvSpPr>
        <p:spPr>
          <a:xfrm>
            <a:off x="6887308" y="2430428"/>
            <a:ext cx="4460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根据</a:t>
            </a:r>
            <a:r>
              <a:rPr lang="zh-CN" altLang="en-US" dirty="0">
                <a:solidFill>
                  <a:srgbClr val="FF0000"/>
                </a:solidFill>
              </a:rPr>
              <a:t>指令相似度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应用相似度 </a:t>
            </a:r>
            <a:r>
              <a:rPr lang="zh-CN" altLang="en-US" dirty="0"/>
              <a:t>和 </a:t>
            </a:r>
            <a:r>
              <a:rPr lang="zh-CN" altLang="en-US" dirty="0">
                <a:solidFill>
                  <a:srgbClr val="FF0000"/>
                </a:solidFill>
              </a:rPr>
              <a:t>动作结构</a:t>
            </a:r>
            <a:r>
              <a:rPr lang="zh-CN" altLang="en-US" dirty="0"/>
              <a:t>判断是否为同类操作进行聚类</a:t>
            </a:r>
          </a:p>
        </p:txBody>
      </p:sp>
    </p:spTree>
    <p:extLst>
      <p:ext uri="{BB962C8B-B14F-4D97-AF65-F5344CB8AC3E}">
        <p14:creationId xmlns:p14="http://schemas.microsoft.com/office/powerpoint/2010/main" val="96742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9908" y="242082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二、整体架构设计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1" y="1097280"/>
            <a:ext cx="5867400" cy="2142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dirty="0"/>
            </a:br>
            <a:r>
              <a:rPr dirty="0"/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  <a:br>
              <a:rPr dirty="0"/>
            </a:br>
            <a:r>
              <a:rPr dirty="0"/>
              <a:t>│                           </a:t>
            </a:r>
            <a:r>
              <a:rPr dirty="0" err="1"/>
              <a:t>技能学习完整流程</a:t>
            </a:r>
            <a:r>
              <a:rPr dirty="0"/>
              <a:t>                                 │</a:t>
            </a:r>
            <a:br>
              <a:rPr dirty="0"/>
            </a:br>
            <a:r>
              <a:rPr dirty="0"/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  <a:br>
              <a:rPr dirty="0"/>
            </a:br>
            <a:r>
              <a:rPr dirty="0"/>
              <a:t>│                                                                         │</a:t>
            </a:r>
            <a:br>
              <a:rPr dirty="0"/>
            </a:br>
            <a:r>
              <a:rPr dirty="0"/>
              <a:t>│  ┌──────────────┐                                                       │</a:t>
            </a:r>
            <a:br>
              <a:rPr dirty="0"/>
            </a:br>
            <a:r>
              <a:rPr dirty="0"/>
              <a:t>│  │ VLM </a:t>
            </a:r>
            <a:r>
              <a:rPr dirty="0" err="1"/>
              <a:t>执行操作</a:t>
            </a:r>
            <a:r>
              <a:rPr dirty="0"/>
              <a:t>  │  ← </a:t>
            </a:r>
            <a:r>
              <a:rPr dirty="0" err="1"/>
              <a:t>用户运行任务，VLM推理执行动作</a:t>
            </a:r>
            <a:r>
              <a:rPr dirty="0"/>
              <a:t>                         │</a:t>
            </a:r>
            <a:br>
              <a:rPr dirty="0"/>
            </a:br>
            <a:r>
              <a:rPr dirty="0"/>
              <a:t>│  └──────┬───────┘                                                       │</a:t>
            </a:r>
            <a:br>
              <a:rPr dirty="0"/>
            </a:br>
            <a:r>
              <a:rPr dirty="0"/>
              <a:t>│         ↓                                                               │</a:t>
            </a:r>
            <a:br>
              <a:rPr dirty="0"/>
            </a:br>
            <a:r>
              <a:rPr dirty="0"/>
              <a:t>│  ┌──────────────────────────┐                                           │</a:t>
            </a:r>
            <a:br>
              <a:rPr dirty="0"/>
            </a:br>
            <a:r>
              <a:rPr dirty="0"/>
              <a:t>│  │ OperationLogger.log()    │  ← </a:t>
            </a:r>
            <a:r>
              <a:rPr dirty="0" err="1"/>
              <a:t>自动记录操作到</a:t>
            </a:r>
            <a:r>
              <a:rPr dirty="0"/>
              <a:t> JSONL                    │</a:t>
            </a:r>
            <a:br>
              <a:rPr dirty="0"/>
            </a:br>
            <a:r>
              <a:rPr dirty="0"/>
              <a:t>│  └──────┬───────────────────┘                                           │</a:t>
            </a:r>
            <a:br>
              <a:rPr dirty="0"/>
            </a:br>
            <a:r>
              <a:rPr dirty="0"/>
              <a:t>│         ↓                                                               │</a:t>
            </a:r>
            <a:br>
              <a:rPr dirty="0"/>
            </a:br>
            <a:r>
              <a:rPr dirty="0"/>
              <a:t>│  ┌──────────────────────────────────┐                                   │</a:t>
            </a:r>
            <a:br>
              <a:rPr dirty="0"/>
            </a:br>
            <a:r>
              <a:rPr dirty="0"/>
              <a:t>│  │ data/logs/</a:t>
            </a:r>
            <a:r>
              <a:rPr dirty="0" err="1"/>
              <a:t>operation_logs.jsonl</a:t>
            </a:r>
            <a:r>
              <a:rPr dirty="0"/>
              <a:t>   │  ← </a:t>
            </a:r>
            <a:r>
              <a:rPr dirty="0" err="1"/>
              <a:t>操作日志持久化存储</a:t>
            </a:r>
            <a:r>
              <a:rPr dirty="0"/>
              <a:t>               │</a:t>
            </a:r>
            <a:br>
              <a:rPr dirty="0"/>
            </a:br>
            <a:r>
              <a:rPr dirty="0"/>
              <a:t>│  └──────┬───────────────────┬───────┘                                   │</a:t>
            </a:r>
            <a:br>
              <a:rPr dirty="0"/>
            </a:br>
            <a:r>
              <a:rPr dirty="0"/>
              <a:t>│         │                 │                                             │</a:t>
            </a:r>
            <a:br>
              <a:rPr dirty="0"/>
            </a:br>
            <a:r>
              <a:rPr dirty="0"/>
              <a:t>│         ↓                 ↓                                             │</a:t>
            </a:r>
            <a:br>
              <a:rPr dirty="0"/>
            </a:br>
            <a:r>
              <a:rPr dirty="0"/>
              <a:t>│  ┌───────────────────────────────────────────────┐                       │</a:t>
            </a:r>
            <a:br>
              <a:rPr dirty="0"/>
            </a:br>
            <a:r>
              <a:rPr dirty="0"/>
              <a:t>│  │ </a:t>
            </a:r>
            <a:r>
              <a:rPr dirty="0" err="1"/>
              <a:t>ClusterEngine.scan_and_cluster</a:t>
            </a:r>
            <a:r>
              <a:rPr dirty="0"/>
              <a:t>()              │  ← </a:t>
            </a:r>
            <a:r>
              <a:rPr dirty="0" err="1"/>
              <a:t>手动触发聚类</a:t>
            </a:r>
            <a:r>
              <a:rPr dirty="0"/>
              <a:t>        │</a:t>
            </a:r>
            <a:br>
              <a:rPr dirty="0"/>
            </a:br>
            <a:r>
              <a:rPr dirty="0"/>
              <a:t>│  │   ├─ Step 1: </a:t>
            </a:r>
            <a:r>
              <a:rPr dirty="0" err="1"/>
              <a:t>新日志匹配已有聚类（增量</a:t>
            </a:r>
            <a:r>
              <a:rPr dirty="0"/>
              <a:t>）         │                       │</a:t>
            </a:r>
            <a:br>
              <a:rPr dirty="0"/>
            </a:br>
            <a:r>
              <a:rPr dirty="0"/>
              <a:t>│  │   └─ Step 2: </a:t>
            </a:r>
            <a:r>
              <a:rPr dirty="0" err="1"/>
              <a:t>未聚类日志创建新聚类（全量</a:t>
            </a:r>
            <a:r>
              <a:rPr dirty="0"/>
              <a:t>）       │                       │</a:t>
            </a:r>
            <a:br>
              <a:rPr dirty="0"/>
            </a:br>
            <a:r>
              <a:rPr dirty="0"/>
              <a:t>│  └──────┬────────────────────────────────────────┘                       │</a:t>
            </a:r>
            <a:br>
              <a:rPr dirty="0"/>
            </a:br>
            <a:r>
              <a:rPr dirty="0"/>
              <a:t>│         ↓                                                               │</a:t>
            </a:r>
            <a:br>
              <a:rPr dirty="0"/>
            </a:br>
            <a:r>
              <a:rPr dirty="0"/>
              <a:t>│  ┌───────────────────────────────────────┐                              │</a:t>
            </a:r>
            <a:br>
              <a:rPr dirty="0"/>
            </a:br>
            <a:r>
              <a:rPr dirty="0"/>
              <a:t>│  │ data/clusters/</a:t>
            </a:r>
            <a:r>
              <a:rPr dirty="0" err="1"/>
              <a:t>operation_clusters.json</a:t>
            </a:r>
            <a:r>
              <a:rPr dirty="0"/>
              <a:t> │  ← </a:t>
            </a:r>
            <a:r>
              <a:rPr dirty="0" err="1"/>
              <a:t>候选池，等待审核</a:t>
            </a:r>
            <a:r>
              <a:rPr dirty="0"/>
              <a:t>            │</a:t>
            </a:r>
            <a:br>
              <a:rPr dirty="0"/>
            </a:br>
            <a:r>
              <a:rPr dirty="0"/>
              <a:t>│  │   status: "candidate"                 │                              │</a:t>
            </a:r>
            <a:br>
              <a:rPr dirty="0"/>
            </a:br>
            <a:r>
              <a:rPr dirty="0"/>
              <a:t>│  └──────┬────────────────────────────────┘                              │</a:t>
            </a:r>
            <a:br>
              <a:rPr dirty="0"/>
            </a:br>
            <a:r>
              <a:rPr dirty="0"/>
              <a:t>│         │ POST /</a:t>
            </a:r>
            <a:r>
              <a:rPr dirty="0" err="1"/>
              <a:t>api</a:t>
            </a:r>
            <a:r>
              <a:rPr dirty="0"/>
              <a:t>/v1/skills/candidates/{id}/approve                   │</a:t>
            </a:r>
            <a:br>
              <a:rPr dirty="0"/>
            </a:br>
            <a:r>
              <a:rPr dirty="0"/>
              <a:t>│         ↓                                                               │</a:t>
            </a:r>
            <a:br>
              <a:rPr dirty="0"/>
            </a:br>
            <a:r>
              <a:rPr dirty="0"/>
              <a:t>│  ┌──────────────────────────┐                                           │</a:t>
            </a:r>
            <a:br>
              <a:rPr dirty="0"/>
            </a:br>
            <a:r>
              <a:rPr dirty="0"/>
              <a:t>│  │ </a:t>
            </a:r>
            <a:r>
              <a:rPr dirty="0" err="1"/>
              <a:t>SkillGenerator.generate</a:t>
            </a:r>
            <a:r>
              <a:rPr dirty="0"/>
              <a:t>()│  ← </a:t>
            </a:r>
            <a:r>
              <a:rPr dirty="0" err="1"/>
              <a:t>生成技能规则</a:t>
            </a:r>
            <a:r>
              <a:rPr dirty="0"/>
              <a:t>                            │</a:t>
            </a:r>
            <a:br>
              <a:rPr dirty="0"/>
            </a:br>
            <a:r>
              <a:rPr dirty="0"/>
              <a:t>│  └──────┬───────────────────┘                                           │</a:t>
            </a:r>
            <a:br>
              <a:rPr dirty="0"/>
            </a:br>
            <a:r>
              <a:rPr dirty="0"/>
              <a:t>│         ↓                                                               │</a:t>
            </a:r>
            <a:br>
              <a:rPr dirty="0"/>
            </a:br>
            <a:r>
              <a:rPr dirty="0"/>
              <a:t>│  ┌─────────────────────────────────┐                                    │</a:t>
            </a:r>
            <a:br>
              <a:rPr dirty="0"/>
            </a:br>
            <a:r>
              <a:rPr dirty="0"/>
              <a:t>│  │ rules/</a:t>
            </a:r>
            <a:r>
              <a:rPr dirty="0" err="1"/>
              <a:t>learned_skills.json</a:t>
            </a:r>
            <a:r>
              <a:rPr dirty="0"/>
              <a:t>       │  ← </a:t>
            </a:r>
            <a:r>
              <a:rPr dirty="0" err="1"/>
              <a:t>技能库，Fast</a:t>
            </a:r>
            <a:r>
              <a:rPr dirty="0"/>
              <a:t> Path </a:t>
            </a:r>
            <a:r>
              <a:rPr dirty="0" err="1"/>
              <a:t>使用</a:t>
            </a:r>
            <a:r>
              <a:rPr dirty="0"/>
              <a:t>           │</a:t>
            </a:r>
            <a:br>
              <a:rPr dirty="0"/>
            </a:br>
            <a:r>
              <a:rPr dirty="0"/>
              <a:t>│  └──────┬──────────────────────────┘                                    │</a:t>
            </a:r>
            <a:br>
              <a:rPr dirty="0"/>
            </a:br>
            <a:r>
              <a:rPr dirty="0"/>
              <a:t>│         │ </a:t>
            </a:r>
            <a:r>
              <a:rPr dirty="0" err="1"/>
              <a:t>RuleMatcher.load_all_rules</a:t>
            </a:r>
            <a:r>
              <a:rPr dirty="0"/>
              <a:t>()                                  │</a:t>
            </a:r>
            <a:br>
              <a:rPr dirty="0"/>
            </a:br>
            <a:r>
              <a:rPr dirty="0"/>
              <a:t>│         ↓                                                               │</a:t>
            </a:r>
            <a:br>
              <a:rPr dirty="0"/>
            </a:br>
            <a:r>
              <a:rPr dirty="0"/>
              <a:t>│  ┌──────────────────────────┐                                           │</a:t>
            </a:r>
            <a:br>
              <a:rPr dirty="0"/>
            </a:br>
            <a:r>
              <a:rPr dirty="0"/>
              <a:t>│  │ Fast Path </a:t>
            </a:r>
            <a:r>
              <a:rPr dirty="0" err="1"/>
              <a:t>匹配生效</a:t>
            </a:r>
            <a:r>
              <a:rPr dirty="0"/>
              <a:t>        │  ← </a:t>
            </a:r>
            <a:r>
              <a:rPr dirty="0" err="1"/>
              <a:t>新任务直接命中规则，无需</a:t>
            </a:r>
            <a:r>
              <a:rPr dirty="0"/>
              <a:t> VLM            │</a:t>
            </a:r>
            <a:br>
              <a:rPr dirty="0"/>
            </a:br>
            <a:r>
              <a:rPr dirty="0"/>
              <a:t>│  │ source: "learned"         │                                         │</a:t>
            </a:r>
            <a:br>
              <a:rPr dirty="0"/>
            </a:br>
            <a:r>
              <a:rPr dirty="0"/>
              <a:t>│  │ confidence: 0.75          │                                         │</a:t>
            </a:r>
            <a:br>
              <a:rPr dirty="0"/>
            </a:br>
            <a:r>
              <a:rPr dirty="0"/>
              <a:t>│  └──────────────────────────┘                                           │</a:t>
            </a:r>
            <a:br>
              <a:rPr dirty="0"/>
            </a:br>
            <a:r>
              <a:rPr dirty="0"/>
              <a:t>│                                                                         │</a:t>
            </a:r>
            <a:br>
              <a:rPr dirty="0"/>
            </a:br>
            <a:r>
              <a:rPr dirty="0"/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  <a:br>
              <a:rPr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数据流向：VLM 操作 → 日志记录 → 聚类分析 → 人工审核 → 技能生成 → Fast Path 匹配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13CF8B-151C-BF3E-B70C-CA95D914F5A1}"/>
              </a:ext>
            </a:extLst>
          </p:cNvPr>
          <p:cNvSpPr txBox="1"/>
          <p:nvPr/>
        </p:nvSpPr>
        <p:spPr>
          <a:xfrm>
            <a:off x="8188569" y="592547"/>
            <a:ext cx="2831123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VLM</a:t>
            </a:r>
            <a:r>
              <a:rPr lang="zh-CN" altLang="en-US" dirty="0"/>
              <a:t>执行操作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2C582-E8F2-58BB-C2D0-2E5E0E569672}"/>
              </a:ext>
            </a:extLst>
          </p:cNvPr>
          <p:cNvSpPr txBox="1"/>
          <p:nvPr/>
        </p:nvSpPr>
        <p:spPr>
          <a:xfrm>
            <a:off x="8188569" y="1409750"/>
            <a:ext cx="2831123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OperationLogger.log()</a:t>
            </a:r>
          </a:p>
          <a:p>
            <a:pPr algn="ctr"/>
            <a:r>
              <a:rPr lang="en-US" altLang="zh-CN" dirty="0" err="1"/>
              <a:t>Operations_log.jsonl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A4EBE22-EDD6-DF63-8DEB-9C84E817D3C7}"/>
              </a:ext>
            </a:extLst>
          </p:cNvPr>
          <p:cNvSpPr txBox="1"/>
          <p:nvPr/>
        </p:nvSpPr>
        <p:spPr>
          <a:xfrm>
            <a:off x="8188568" y="2492229"/>
            <a:ext cx="2831123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OperationLogger.log()</a:t>
            </a:r>
          </a:p>
          <a:p>
            <a:pPr algn="ctr"/>
            <a:r>
              <a:rPr lang="en-US" altLang="zh-CN" dirty="0" err="1"/>
              <a:t>Operations_log.jsonl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五个核心阶段概览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3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功能描述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核心文件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触发方式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操作记录器：自动记录 VLM 执行的操作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learning/operation_logger.py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自动触发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聚类引擎：识别重复模式，生成候选技能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learning/cluster_engine.py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手动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候选池管理：提供审核接口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app/server.py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手动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技能生成器：从聚类生成规则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learning/skill_generator.py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批准时自动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Phase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技能库集成：加载到 Fast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rule_matcher.py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自动加载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三、Phase 1: 操作记录器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【</a:t>
            </a:r>
            <a:r>
              <a:rPr dirty="0" err="1"/>
              <a:t>功能定位】自动记录每次</a:t>
            </a:r>
            <a:r>
              <a:rPr dirty="0"/>
              <a:t> VLM </a:t>
            </a:r>
            <a:r>
              <a:rPr dirty="0" err="1"/>
              <a:t>执行的操作，为后续学习提供数据基础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【</a:t>
            </a:r>
            <a:r>
              <a:rPr dirty="0" err="1"/>
              <a:t>记录时机】在</a:t>
            </a:r>
            <a:r>
              <a:rPr dirty="0"/>
              <a:t> execution_node.py </a:t>
            </a:r>
            <a:r>
              <a:rPr dirty="0" err="1"/>
              <a:t>中，VLM</a:t>
            </a:r>
            <a:r>
              <a:rPr dirty="0"/>
              <a:t> </a:t>
            </a:r>
            <a:r>
              <a:rPr dirty="0" err="1"/>
              <a:t>成功执行动作后自动调用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只记录</a:t>
            </a:r>
            <a:r>
              <a:rPr dirty="0"/>
              <a:t> source='</a:t>
            </a:r>
            <a:r>
              <a:rPr dirty="0" err="1"/>
              <a:t>vlm</a:t>
            </a:r>
            <a:r>
              <a:rPr dirty="0"/>
              <a:t>' </a:t>
            </a:r>
            <a:r>
              <a:rPr dirty="0" err="1"/>
              <a:t>的操作，Fast</a:t>
            </a:r>
            <a:r>
              <a:rPr dirty="0"/>
              <a:t> Path </a:t>
            </a:r>
            <a:r>
              <a:rPr dirty="0" err="1"/>
              <a:t>命中的操作不记录（已经是规则</a:t>
            </a:r>
            <a:r>
              <a:rPr dirty="0"/>
              <a:t>）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【</a:t>
            </a:r>
            <a:r>
              <a:rPr dirty="0" err="1"/>
              <a:t>记录内容</a:t>
            </a:r>
            <a:r>
              <a:rPr dirty="0"/>
              <a:t>】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log_id</a:t>
            </a:r>
            <a:r>
              <a:rPr dirty="0"/>
              <a:t>: </a:t>
            </a:r>
            <a:r>
              <a:rPr dirty="0" err="1"/>
              <a:t>唯一标识符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timestamp: </a:t>
            </a:r>
            <a:r>
              <a:rPr dirty="0" err="1"/>
              <a:t>时间戳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instruction: </a:t>
            </a:r>
            <a:r>
              <a:rPr dirty="0" err="1"/>
              <a:t>用户指令文本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instruction_hash</a:t>
            </a:r>
            <a:r>
              <a:rPr dirty="0"/>
              <a:t>: </a:t>
            </a:r>
            <a:r>
              <a:rPr dirty="0" err="1"/>
              <a:t>指令的</a:t>
            </a:r>
            <a:r>
              <a:rPr dirty="0"/>
              <a:t> MD5 </a:t>
            </a:r>
            <a:r>
              <a:rPr dirty="0" err="1"/>
              <a:t>哈希，用于快速比对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app_context</a:t>
            </a:r>
            <a:r>
              <a:rPr dirty="0"/>
              <a:t>: </a:t>
            </a:r>
            <a:r>
              <a:rPr dirty="0" err="1"/>
              <a:t>应用上下文（窗口标题、进程名</a:t>
            </a:r>
            <a:r>
              <a:rPr dirty="0"/>
              <a:t>）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action_structure</a:t>
            </a:r>
            <a:r>
              <a:rPr dirty="0"/>
              <a:t>: </a:t>
            </a:r>
            <a:r>
              <a:rPr dirty="0" err="1"/>
              <a:t>动作结构序列</a:t>
            </a:r>
            <a:r>
              <a:rPr dirty="0"/>
              <a:t> ['click', 'type', ...]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actions: </a:t>
            </a:r>
            <a:r>
              <a:rPr dirty="0" err="1"/>
              <a:t>具体动作详情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success: </a:t>
            </a:r>
            <a:r>
              <a:rPr dirty="0" err="1"/>
              <a:t>是否成功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source: </a:t>
            </a:r>
            <a:r>
              <a:rPr dirty="0" err="1"/>
              <a:t>来源（vlm</a:t>
            </a:r>
            <a:r>
              <a:rPr dirty="0"/>
              <a:t> 或 </a:t>
            </a:r>
            <a:r>
              <a:rPr dirty="0" err="1"/>
              <a:t>fast_path</a:t>
            </a:r>
            <a:r>
              <a:rPr dirty="0"/>
              <a:t>）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rPr dirty="0"/>
              <a:t>• 【</a:t>
            </a:r>
            <a:r>
              <a:rPr dirty="0" err="1"/>
              <a:t>存储格式】JSONL（每行一个</a:t>
            </a:r>
            <a:r>
              <a:rPr dirty="0"/>
              <a:t> JSON </a:t>
            </a:r>
            <a:r>
              <a:rPr dirty="0" err="1"/>
              <a:t>对象</a:t>
            </a:r>
            <a:r>
              <a:rPr dirty="0"/>
              <a:t>），</a:t>
            </a:r>
            <a:r>
              <a:rPr dirty="0" err="1"/>
              <a:t>便于追加和流式读取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Phase 1: 日志数据结构示例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{</a:t>
            </a:r>
            <a:br/>
            <a:r>
              <a:t>    "log_id": "a3bb328d-2d9a-46b5-aa6e-1d316ce0f977",</a:t>
            </a:r>
            <a:br/>
            <a:r>
              <a:t>    "timestamp": "2026-04-02T10:15:13.780745",</a:t>
            </a:r>
            <a:br/>
            <a:r>
              <a:t>    "instruction": "双击打开Edge Dev浏览器",</a:t>
            </a:r>
            <a:br/>
            <a:r>
              <a:t>    "instruction_hash": "522e5b4d",</a:t>
            </a:r>
            <a:br/>
            <a:r>
              <a:t>    "task_name": "自动化任务-任务指派",</a:t>
            </a:r>
            <a:br/>
            <a:r>
              <a:t>    "app_context": {</a:t>
            </a:r>
            <a:br/>
            <a:r>
              <a:t>        "active_window": "Program Manager",</a:t>
            </a:r>
            <a:br/>
            <a:r>
              <a:t>        "window_title": "Program Manager"</a:t>
            </a:r>
            <a:br/>
            <a:r>
              <a:t>    },</a:t>
            </a:r>
            <a:br/>
            <a:r>
              <a:t>    "action_structure": ["double_click"],</a:t>
            </a:r>
            <a:br/>
            <a:r>
              <a:t>    "actions": [</a:t>
            </a:r>
            <a:br/>
            <a:r>
              <a:t>        {"action": "double_click", "coordinate": [230, 751]}</a:t>
            </a:r>
            <a:br/>
            <a:r>
              <a:t>    ],</a:t>
            </a:r>
            <a:br/>
            <a:r>
              <a:t>    "success": true,</a:t>
            </a:r>
            <a:br/>
            <a:r>
              <a:t>    "source": "vlm",</a:t>
            </a:r>
            <a:br/>
            <a:r>
              <a:t>    "step_id": 1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每条记录包含完整的上下文信息，支持后续的相似度计算和模式识别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四、Phase 2: 聚类引擎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【功能定位】识别日志中重复出现的同类操作，生成候选技能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【相似度判定条件】两个操作被判定为'相同'需要满足：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1. 应用上下文相似度 &gt; 0.3（同一应用窗口）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2. 指令语义相似度 &gt; 0.6（Jaccard 相似度）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3. 动作结构相似度 &gt; 0.8（动作类型序列相似）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【增量聚类策略】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Step 1: 只处理新日志，匹配已有聚类（性能优化）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Step 2: 处理所有未聚类日志，创建新聚类（避免遗漏）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【关键设计】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last_scan_log_id: 标记上次扫描位置，支持增量加载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min_cluster_size: 最小聚类大小，默认为 3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避免遗漏问题：Step 2 会遍历所有未聚类日志，包括旧的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Phase 2: 聚类相似度判定规则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3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阈值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计算方法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应用上下文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&gt; 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窗口标题的 Jaccard 相似度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确保是同一应用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指令相似度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&gt; 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分词后 Jaccard 相似度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语义相近的指令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动作结构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&gt; 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动作类型的 Jaccard 相似度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操作序列相似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Phase 2: 聚类结果数据结构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{</a:t>
            </a:r>
            <a:br/>
            <a:r>
              <a:t>    "cluster_id": "cluster_fada9d3a",</a:t>
            </a:r>
            <a:br/>
            <a:r>
              <a:t>    "pattern": {</a:t>
            </a:r>
            <a:br/>
            <a:r>
              <a:t>        "instruction_pattern": "双击打开Edge\\s*Dev浏览器",</a:t>
            </a:r>
            <a:br/>
            <a:r>
              <a:t>        "app_context": "Program Manager",</a:t>
            </a:r>
            <a:br/>
            <a:r>
              <a:t>        "action_structure": ["double_click"]</a:t>
            </a:r>
            <a:br/>
            <a:r>
              <a:t>    },</a:t>
            </a:r>
            <a:br/>
            <a:r>
              <a:t>    "members": ["log_id_1", "log_id_2", "log_id_3"],</a:t>
            </a:r>
            <a:br/>
            <a:r>
              <a:t>    "sample_instructions": ["双击打开Edge Dev浏览器", ...],</a:t>
            </a:r>
            <a:br/>
            <a:r>
              <a:t>    "sample_actions": [</a:t>
            </a:r>
            <a:br/>
            <a:r>
              <a:t>        {"action": "double_click", "coordinate": [230, 751]},</a:t>
            </a:r>
            <a:br/>
            <a:r>
              <a:t>        {"action": "double_click", "coordinate": [228, 752]},</a:t>
            </a:r>
            <a:br/>
            <a:r>
              <a:t>        {"action": "double_click", "coordinate": [230, 750]}</a:t>
            </a:r>
            <a:br/>
            <a:r>
              <a:t>    ],</a:t>
            </a:r>
            <a:br/>
            <a:r>
              <a:t>    "count": 3,</a:t>
            </a:r>
            <a:br/>
            <a:r>
              <a:t>    "status": "candidate"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status 字段：candidate（候选）→ approved（已批准）→ rejected（已拒绝）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五、Phase 3: 候选池管理与审核 API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9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API 端点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功能描述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/api/v1/skills/cluster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触发聚类分析（支持 full_scan 参数）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/api/v1/skills/candidates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列出所有候选技能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/api/v1/skills/candidates/{id}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获取特定候选的详细信息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/api/v1/skills/candidates/{id}/approve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批准候选，自动生成技能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/api/v1/skills/candidates/{id}/reject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拒绝候选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/api/v1/skills/stats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获取统计信息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/api/v1/skills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列出已入库的技能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Phase 3: 审核批准流程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【批准流程】POST /api/v1/skills/candidates/{cluster_id}/approve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1. 验证候选状态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  检查 cluster.status == 'candidate'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2. 更新聚类状态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  cluster.status = 'approved'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3. 生成技能规则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  skill = SkillGenerator().generate_skill(cluster)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4. 保存到技能库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  SkillGenerator().save_skill(skill) → rules/learned_skills.json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【拒绝流程】POST /api/v1/skills/candidates/{cluster_id}/reject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  cluster.status = 'rejected'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  cluster.rejection_reason = reason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【人工审核的意义】避免错误规则入库，保证技能质量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六、Phase 4: 技能生成器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【功能定位】从批准的聚类生成可复用的技能规则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【生成内容】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id: 唯一标识符，格式 learned_xxxxxxxx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name: 根据应用和动作结构自动生成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description: 包含来源操作数量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source: 固定为 'learned'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trigger.patterns: 正则表达式列表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trigger.app_context: 应用上下文列表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actions: 泛化后的动作序列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confidence: 置信度分数（基于操作数量）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【指令转正则规则】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'双击打开Edge Dev浏览器' → '双击打开Edge\\s*Dev浏览器'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'发送消息给张三' → '发送消息给.*'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'点击确定按钮提交' → '点击.*按钮提交'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【动作泛化规则】点击保留坐标，输入动作短文本保留、长文本参数化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Phase 4: 生成的技能示例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{</a:t>
            </a:r>
            <a:br/>
            <a:r>
              <a:t>    "id": "learned_1a2b3c4d",</a:t>
            </a:r>
            <a:br/>
            <a:r>
              <a:t>    "name": "Program Manager_双击",</a:t>
            </a:r>
            <a:br/>
            <a:r>
              <a:t>    "description": "Auto-learned skill from 3 operations",</a:t>
            </a:r>
            <a:br/>
            <a:r>
              <a:t>    "source": "learned",</a:t>
            </a:r>
            <a:br/>
            <a:r>
              <a:t>    "cluster_id": "cluster_fada9d3a",</a:t>
            </a:r>
            <a:br/>
            <a:r>
              <a:t>    "created_at": "2026-04-02T11:30:00",</a:t>
            </a:r>
            <a:br/>
            <a:r>
              <a:t>    "trigger": {</a:t>
            </a:r>
            <a:br/>
            <a:r>
              <a:t>        "patterns": ["双击打开Edge\\s*Dev浏览器"],</a:t>
            </a:r>
            <a:br/>
            <a:r>
              <a:t>        "app_context": ["Program Manager"]</a:t>
            </a:r>
            <a:br/>
            <a:r>
              <a:t>    },</a:t>
            </a:r>
            <a:br/>
            <a:r>
              <a:t>    "actions": [</a:t>
            </a:r>
            <a:br/>
            <a:r>
              <a:t>        {"type": "double_click", "coordinate": [230, 751]}</a:t>
            </a:r>
            <a:br/>
            <a:r>
              <a:t>    ],</a:t>
            </a:r>
            <a:br/>
            <a:r>
              <a:t>    "enabled": true,</a:t>
            </a:r>
            <a:br/>
            <a:r>
              <a:t>    "confidence": 0.75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confidence 计算公式：min(count/10, 1.0) * 0.5 + 0.5，3次操作=0.65，10次以上=1.0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七、Phase 5: 技能库集成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【功能定位】将生成的技能加载到 Fast Path 匹配流程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【规则加载】RuleMatcher.load_all_rules()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扫描 rules/ 目录下的所有 .json 文件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learned_skills.json 标记 source='learned'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其他文件标记 source='manual'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【正则预编译】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patterns = rule.get('trigger', {}).get('patterns', [])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self.rules_cache[rule['id']] = [re.compile(p) for p in patterns]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【匹配流程】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1. 检查应用上下文是否匹配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2. 遍历预编译的正则表达式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3. 返回匹配结果，包含 source 和 confidence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【匹配结果标记】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source: 'learned' 表示学习获得，'manual' 表示人工配置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confidence: 置信度分数，用于评估规则可靠性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八、文件结构与代码组织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learning/</a:t>
            </a:r>
            <a:br/>
            <a:r>
              <a:t>├── __init__.py</a:t>
            </a:r>
            <a:br/>
            <a:r>
              <a:t>├── operation_logger.py    # Phase 1: 操作记录</a:t>
            </a:r>
            <a:br/>
            <a:r>
              <a:t>├── similarity.py          # Phase 2: 相似度计算</a:t>
            </a:r>
            <a:br/>
            <a:r>
              <a:t>├── cluster_engine.py      # Phase 2: 聚类引擎</a:t>
            </a:r>
            <a:br/>
            <a:r>
              <a:t>└── skill_generator.py     # Phase 4: 技能生成</a:t>
            </a:r>
            <a:br/>
            <a:br/>
            <a:r>
              <a:t>utils/</a:t>
            </a:r>
            <a:br/>
            <a:r>
              <a:t>└── app_context.py         # Phase 1: 应用上下文检测</a:t>
            </a:r>
            <a:br/>
            <a:br/>
            <a:r>
              <a:t>data/</a:t>
            </a:r>
            <a:br/>
            <a:r>
              <a:t>├── logs/</a:t>
            </a:r>
            <a:br/>
            <a:r>
              <a:t>│   └── operation_logs.jsonl    # 运行时生成</a:t>
            </a:r>
            <a:br/>
            <a:r>
              <a:t>└── clusters/</a:t>
            </a:r>
            <a:br/>
            <a:r>
              <a:t>    └── operation_clusters.json # 运行时生成</a:t>
            </a:r>
            <a:br/>
            <a:br/>
            <a:r>
              <a:t>rules/</a:t>
            </a:r>
            <a:br/>
            <a:r>
              <a:t>└── learned_skills.json    # 学习到的技能</a:t>
            </a:r>
            <a:br/>
            <a:br/>
            <a:r>
              <a:t>nodes/</a:t>
            </a:r>
            <a:br/>
            <a:r>
              <a:t>├── execution_node.py      # Phase 1: 添加日志记录</a:t>
            </a:r>
            <a:br/>
            <a:r>
              <a:t>└── fast_path_node.py      # Phase 5: 显示技能来源</a:t>
            </a:r>
            <a:br/>
            <a:br/>
            <a:r>
              <a:t>app/</a:t>
            </a:r>
            <a:br/>
            <a:r>
              <a:t>└── server.py              # Phase 3: 审核API</a:t>
            </a:r>
            <a:br/>
            <a:br/>
            <a:r>
              <a:t>rule_matcher.py            # Phase 5: 加载学习技能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模块化设计，每个阶段职责清晰，便于维护和扩展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九、关键设计决策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9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决策点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选择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原因说明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聚类触发方式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手动 API 触发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用户可控，避免不必要的计算开销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日志保留策略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永久保留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支持回溯分析、重新聚类、审计追踪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聚类策略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增量+全量混合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Step1 增量保证性能，Step2 全量避免遗漏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审核机制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人工审核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避免错误规则入库，保证技能质量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正则生成来源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原始指令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比聚类的 instruction_pattern 更准确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相似度算法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Jaccard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简单高效，无需额外依赖，可扩展为语义相似度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GuiAgent 技能学习机制</a:t>
            </a:r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2637</Words>
  <Application>Microsoft Office PowerPoint</Application>
  <PresentationFormat>宽屏</PresentationFormat>
  <Paragraphs>282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Runjie Shi</cp:lastModifiedBy>
  <cp:revision>21</cp:revision>
  <dcterms:created xsi:type="dcterms:W3CDTF">2013-01-27T09:14:16Z</dcterms:created>
  <dcterms:modified xsi:type="dcterms:W3CDTF">2026-04-02T09:53:29Z</dcterms:modified>
  <cp:category/>
</cp:coreProperties>
</file>